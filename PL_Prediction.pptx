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pmGeH55ZQgT3cAPAon1B4SI3o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2FD06A-73B8-4944-8ACC-A65FCABF7C79}">
  <a:tblStyle styleId="{EB2FD06A-73B8-4944-8ACC-A65FCABF7C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41148" y="48182"/>
            <a:ext cx="9061704" cy="265176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Premier League Match Outcome Prediction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202436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AABB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Machine Learning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196883" y="1639062"/>
            <a:ext cx="2743200" cy="22860"/>
          </a:xfrm>
          <a:prstGeom prst="rect">
            <a:avLst/>
          </a:prstGeom>
          <a:solidFill>
            <a:srgbClr val="4A7CC7"/>
          </a:solidFill>
          <a:ln cap="flat" cmpd="sng" w="12700">
            <a:solidFill>
              <a:srgbClr val="4A7C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17007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400"/>
              <a:buFont typeface="Times New Roman"/>
              <a:buNone/>
            </a:pPr>
            <a:r>
              <a:rPr b="0" i="1" lang="en-US" sz="1400" u="none" cap="none" strike="noStrike">
                <a:solidFill>
                  <a:srgbClr val="8899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Subject: Machine Learning (SE-206)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377440" y="2788920"/>
            <a:ext cx="4389120" cy="192024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77440" y="2862072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DETAILS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0" y="3108960"/>
            <a:ext cx="3657600" cy="16459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560320" y="32004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—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520440" y="32004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Akshit Vashist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577840" y="32004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— </a:t>
            </a: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[24/SE/022]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43200" y="3493008"/>
            <a:ext cx="3657600" cy="16459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560320" y="35844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—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520440" y="35844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Yadav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577840" y="35844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— </a:t>
            </a: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[24/SE/016]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1480" y="969264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39496" y="107899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97280" y="107899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00600" y="969264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928616" y="107899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0" y="107899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11480" y="1810512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39496" y="192024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97280" y="1920240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00600" y="1810512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928616" y="192024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0" y="1920240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11480" y="2651760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39496" y="276148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97280" y="2761488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00600" y="2651760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928616" y="276148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0" y="2761488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11480" y="3514110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39496" y="360273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97280" y="3602736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800600" y="3493008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928616" y="360273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486400" y="3602736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11480" y="4334256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39496" y="4443984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097280" y="4443984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800600" y="4334256"/>
            <a:ext cx="4160520" cy="694944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928616" y="4443984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0" y="4443984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References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39496" y="528523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097280" y="528523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928616" y="528523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486400" y="5285232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21208" y="1124712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033272" y="1024128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Football as a Data Domain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033272" y="1271016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Football generates billions of data points every season — a perfect domain for machine learning with consistent, measurable statistics.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1764792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21208" y="1929384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033272" y="1828800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with Traditional Prediction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033272" y="2075688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prediction relies on human experts and intuition, which is inconsistent and biased. ML can identify hidden patterns objectively.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11480" y="2569464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21208" y="2734056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033272" y="2633472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Data Advantage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033272" y="2880360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can identify hidden patterns in 9,500+ historical match records, learning from over 14 seasons of EPL data.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11480" y="3374136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21208" y="3538728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033272" y="3438144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Applications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033272" y="3685032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prediction systems have real-world applications in sports analysis, media, fantasy leagues, and fan engagement platforms.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11480" y="4178808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21208" y="4343400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033272" y="4242816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Goal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33272" y="4489704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practical, working ML system using 6 algorithms that improves with more data and achieves 67%+ prediction accuracy.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of Project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94360" y="96012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Char char="•"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predicts the outcome of English Premier League (EPL) football matches using supervised machine learning.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94360" y="175564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Char char="•"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match has one of three outcomes: Home Win (H), Draw (D), or Away Win (A) — a 3-class classification problem.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94360" y="2551176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Char char="•"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collected 9,500+ historical match records spanning 14 seasons (2010–2024) from football-data.co.uk.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94360" y="33467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Char char="•"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includes full-time goals, shots, corners, yellow/red cards, and head-to-head statistics.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94360" y="4142232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Char char="•"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full-stack system was built: Python ML backend connected to a Flask REST API and HTML/JS frontend website.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— System Overview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20040" y="950976"/>
            <a:ext cx="1572768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20040" y="100584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 seasons CSV)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" y="166420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900"/>
              <a:buFont typeface="Times New Roman"/>
              <a:buNone/>
            </a:pPr>
            <a:r>
              <a:rPr i="1" lang="en-US" sz="900">
                <a:solidFill>
                  <a:srgbClr val="AA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merged.csv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892808" y="1408176"/>
            <a:ext cx="137160" cy="3657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984248" y="1362456"/>
            <a:ext cx="45720" cy="12801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2057400" y="950976"/>
            <a:ext cx="1572768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057400" y="100584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057400" y="166420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900"/>
              <a:buFont typeface="Times New Roman"/>
              <a:buNone/>
            </a:pPr>
            <a:r>
              <a:rPr i="1" lang="en-US" sz="900">
                <a:solidFill>
                  <a:srgbClr val="AA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clean_data.csv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30168" y="1408176"/>
            <a:ext cx="137160" cy="3657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721608" y="1362456"/>
            <a:ext cx="45720" cy="12801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794760" y="950976"/>
            <a:ext cx="1572768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794760" y="100584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794760" y="166420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900"/>
              <a:buFont typeface="Times New Roman"/>
              <a:buNone/>
            </a:pPr>
            <a:r>
              <a:rPr i="1" lang="en-US" sz="900">
                <a:solidFill>
                  <a:srgbClr val="AA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features.csv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367528" y="1408176"/>
            <a:ext cx="137160" cy="3657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458968" y="1362456"/>
            <a:ext cx="45720" cy="12801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532120" y="950976"/>
            <a:ext cx="1572768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532120" y="100584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532120" y="166420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900"/>
              <a:buFont typeface="Times New Roman"/>
              <a:buNone/>
            </a:pPr>
            <a:r>
              <a:rPr i="1" lang="en-US" sz="900">
                <a:solidFill>
                  <a:srgbClr val="AA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.pkl files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104888" y="1408176"/>
            <a:ext cx="137160" cy="3657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7196328" y="1362456"/>
            <a:ext cx="45720" cy="12801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7269480" y="950976"/>
            <a:ext cx="1572768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269480" y="100584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API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Website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269480" y="1664208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900"/>
              <a:buFont typeface="Times New Roman"/>
              <a:buNone/>
            </a:pPr>
            <a:r>
              <a:rPr i="1" lang="en-US" sz="900">
                <a:solidFill>
                  <a:srgbClr val="AABB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Predictions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0040" y="2084832"/>
            <a:ext cx="8503920" cy="1078992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66928" y="2148840"/>
            <a:ext cx="1444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9,500+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66928" y="26517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Records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249424" y="2148840"/>
            <a:ext cx="1444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249424" y="26517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931920" y="2148840"/>
            <a:ext cx="1444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931920" y="26517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Features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614416" y="2148840"/>
            <a:ext cx="1444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614416" y="26517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296912" y="2148840"/>
            <a:ext cx="1444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67%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296912" y="26517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11480" y="327355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Subject: Machine Learning (SE-206)  |  Group Project — 2 Students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11480" y="96012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48640" y="1197864"/>
            <a:ext cx="420624" cy="420624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48640" y="1207008"/>
            <a:ext cx="420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097280" y="1069848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collect, clean, and merge 9,500+ EPL match records from 14 seasons (2010–2024).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11480" y="196596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48640" y="2203704"/>
            <a:ext cx="420624" cy="420624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48640" y="2212848"/>
            <a:ext cx="420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097280" y="2075688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engineer 40 meaningful features including rolling form, weighted momentum, shots-on-target ratio, and head-to-head records.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11480" y="297180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548640" y="3209544"/>
            <a:ext cx="420624" cy="420624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48640" y="3218688"/>
            <a:ext cx="420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97280" y="3081528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and compare 6 machine learning algorithms: Logistic Regression, KNN, Decision Tree, Random Forest, XGBoost, and Stacking Ensemble.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11480" y="39776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48640" y="4215384"/>
            <a:ext cx="420624" cy="420624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48640" y="4224528"/>
            <a:ext cx="420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97280" y="4087368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all models using Accuracy, Precision, Recall, F1-Score, and 5-fold Cross-Validation.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217920" y="182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200"/>
              <a:buFont typeface="Times New Roman"/>
              <a:buNone/>
            </a:pPr>
            <a:r>
              <a:rPr i="1" lang="en-US" sz="12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football-data.co.uk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94360" y="941832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football-data.co.uk (free, publicly available, no login required)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94360" y="1280160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Coverage: English Premier League — 14 seasons from 2010-11 to 2023-24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94360" y="1618488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Size: 9,512 match records, each row = one match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94360" y="1956816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Variable: FTR — Full Time Result (H = Home Win, D = Draw, A = Away Win)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1148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Columns Used: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9" name="Google Shape;219;p7"/>
          <p:cNvGraphicFramePr/>
          <p:nvPr/>
        </p:nvGraphicFramePr>
        <p:xfrm>
          <a:off x="411480" y="2633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{EB2FD06A-73B8-4944-8ACC-A65FCABF7C79}</a:tableStyleId>
              </a:tblPr>
              <a:tblGrid>
                <a:gridCol w="2011675"/>
                <a:gridCol w="2148850"/>
                <a:gridCol w="1828800"/>
                <a:gridCol w="21488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HomeTeam / AwayTeam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names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HS / 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Shots (Home/Away)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FTHG / FTAG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Time Goals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HST / AST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Shots on Target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FTR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 H/D/A (target)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 / AY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 Cards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7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217920" y="182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200"/>
              <a:buFont typeface="Times New Roman"/>
              <a:buNone/>
            </a:pPr>
            <a:r>
              <a:rPr i="1" lang="en-US" sz="12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&amp; Sources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11480" y="914400"/>
            <a:ext cx="8321040" cy="329184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02920" y="950976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S.No.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96112" y="9509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Type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286000" y="950976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Content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784848" y="9509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Linking Content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11480" y="1261872"/>
            <a:ext cx="832104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02920" y="14264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96112" y="1444752"/>
            <a:ext cx="1250899" cy="219456"/>
          </a:xfrm>
          <a:prstGeom prst="roundRect">
            <a:avLst>
              <a:gd fmla="val 20833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96112" y="1453896"/>
            <a:ext cx="1250899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imes New Roman"/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</a:t>
            </a:r>
            <a:endParaRPr sz="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286000" y="13075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XGBoost: A Scalable Tree Boosting System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2286000" y="157276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50"/>
              <a:buFont typeface="Times New Roman"/>
              <a:buNone/>
            </a:pPr>
            <a:r>
              <a:rPr i="1" lang="en-US" sz="95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Chen &amp; C. Guestrin, KDD 2016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11480" y="1901952"/>
            <a:ext cx="8321040" cy="585216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02920" y="206654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896112" y="2084832"/>
            <a:ext cx="1250899" cy="219456"/>
          </a:xfrm>
          <a:prstGeom prst="roundRect">
            <a:avLst>
              <a:gd fmla="val 20833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96112" y="2093976"/>
            <a:ext cx="1250899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imes New Roman"/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</a:t>
            </a:r>
            <a:endParaRPr sz="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286000" y="194767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Forests — Machine Learning Journal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2286000" y="221284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50"/>
              <a:buFont typeface="Times New Roman"/>
              <a:buNone/>
            </a:pPr>
            <a:r>
              <a:rPr i="1" lang="en-US" sz="95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Breiman, Vol. 45, 2001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11480" y="2542032"/>
            <a:ext cx="832104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02920" y="270662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896112" y="2724912"/>
            <a:ext cx="1250899" cy="219456"/>
          </a:xfrm>
          <a:prstGeom prst="roundRect">
            <a:avLst>
              <a:gd fmla="val 20833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896112" y="2734056"/>
            <a:ext cx="1250899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imes New Roman"/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</a:t>
            </a:r>
            <a:endParaRPr sz="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28600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Football Prediction using ML Techniques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286000" y="285292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50"/>
              <a:buFont typeface="Times New Roman"/>
              <a:buNone/>
            </a:pPr>
            <a:r>
              <a:rPr i="1" lang="en-US" sz="95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Berrar et al., Machine Learning 2019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11480" y="3182112"/>
            <a:ext cx="8321040" cy="585216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02920" y="33467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96112" y="3364992"/>
            <a:ext cx="726034" cy="219456"/>
          </a:xfrm>
          <a:prstGeom prst="roundRect">
            <a:avLst>
              <a:gd fmla="val 20833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896112" y="3374136"/>
            <a:ext cx="72603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imes New Roman"/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endParaRPr sz="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286000" y="322783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football-data.co.uk — EPL Match Dataset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286000" y="349300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50"/>
              <a:buFont typeface="Times New Roman"/>
              <a:buNone/>
            </a:pPr>
            <a:r>
              <a:rPr i="1" lang="en-US" sz="95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www.football-data.co.uk/englandm.php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11480" y="3822192"/>
            <a:ext cx="832104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02920" y="39867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96112" y="4005072"/>
            <a:ext cx="726034" cy="219456"/>
          </a:xfrm>
          <a:prstGeom prst="roundRect">
            <a:avLst>
              <a:gd fmla="val 20833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896112" y="4014216"/>
            <a:ext cx="72603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imes New Roman"/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endParaRPr sz="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286000" y="386791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EPL Match Data 2000–2025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286000" y="41330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50"/>
              <a:buFont typeface="Times New Roman"/>
              <a:buNone/>
            </a:pPr>
            <a:r>
              <a:rPr i="1" lang="en-US" sz="95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www.kaggle.com/datasets/marcohuiii/...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11480" y="4462272"/>
            <a:ext cx="8321040" cy="585216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02920" y="46268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896112" y="4645152"/>
            <a:ext cx="640080" cy="219456"/>
          </a:xfrm>
          <a:prstGeom prst="roundRect">
            <a:avLst>
              <a:gd fmla="val 20833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896112" y="4654296"/>
            <a:ext cx="640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imes New Roman"/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endParaRPr sz="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286000" y="45079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Times New Roman"/>
              <a:buNone/>
            </a:pPr>
            <a:r>
              <a:rPr b="1" lang="en-US" sz="11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Scikit-learn: Machine Learning in Python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286000" y="477316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50"/>
              <a:buFont typeface="Times New Roman"/>
              <a:buNone/>
            </a:pPr>
            <a:r>
              <a:rPr i="1" lang="en-US" sz="95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Pedregosa et al., JMLR Vol.12, 2011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0" y="7034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0" y="5109386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0" y="7034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9102852" y="7034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11480" y="171626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11480" y="701978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11480" y="939722"/>
            <a:ext cx="8321040" cy="71323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502920" y="1086026"/>
            <a:ext cx="402336" cy="402336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502920" y="109517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1033272" y="1049450"/>
            <a:ext cx="7452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—</a:t>
            </a: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Download 14 seasons of EPL CSV files from football-data.co.uk. Merge into one dataset of 9,512 rows.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11480" y="1744394"/>
            <a:ext cx="8321040" cy="71323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02920" y="1890698"/>
            <a:ext cx="402336" cy="402336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02920" y="1899842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033272" y="1854122"/>
            <a:ext cx="7452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—</a:t>
            </a: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Fix date formats, drop null rows, standardise column names, fill missing stats with zero, sort by date.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11480" y="2549066"/>
            <a:ext cx="8321040" cy="71323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02920" y="2695370"/>
            <a:ext cx="402336" cy="402336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02920" y="2704514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033272" y="2658794"/>
            <a:ext cx="7452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—</a:t>
            </a: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40 advanced features: rolling 5/10-game form, weighted momentum, shots ratio, H2H record, season points.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11480" y="3353738"/>
            <a:ext cx="8321040" cy="71323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02920" y="3500042"/>
            <a:ext cx="402336" cy="402336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502920" y="3509186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1033272" y="3463466"/>
            <a:ext cx="7452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—</a:t>
            </a: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80/20 stratified train/test split. Train 6 algorithms with RandomizedSearchCV hyperparameter tuning.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11480" y="4158410"/>
            <a:ext cx="8321040" cy="71323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02920" y="4304714"/>
            <a:ext cx="402336" cy="402336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502920" y="4313858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033272" y="4268138"/>
            <a:ext cx="7452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—</a:t>
            </a: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 Accuracy, Precision, Recall, F1, CV Score. Compare all 6 models. Best = Stacking Ensemble (~67%).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778240" y="4899074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1 — Logistic Regression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509467" y="640080"/>
            <a:ext cx="2125066" cy="237744"/>
          </a:xfrm>
          <a:prstGeom prst="roundRect">
            <a:avLst>
              <a:gd fmla="val 19231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3509467" y="649224"/>
            <a:ext cx="21250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imes New Roman"/>
              <a:buNone/>
            </a:pPr>
            <a:r>
              <a:rPr b="1" lang="en-US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Linear Classifier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11480" y="9784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11480" y="12344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66928" y="1271016"/>
            <a:ext cx="8028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a mathematical decision boundary that separates the three outcome classes (H, D, A) using log-odds. It models the probability of each class using a linear combination of input features.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11480" y="22311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used it: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566928" y="2523744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as the baseline model. Fast to train, easy to interpret. Class-weight balancing applied to handle draw imbalance.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Parameters: C = 0.1, solver = lbfgs, class_weight = balanced, max_iter = 2000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11480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411480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~55%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411480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218688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3218688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~0.53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3218688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025896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6025896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~54%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025896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2 — K-Nearest Neighbors (KNN)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3630168" y="640080"/>
            <a:ext cx="1883664" cy="237744"/>
          </a:xfrm>
          <a:prstGeom prst="roundRect">
            <a:avLst>
              <a:gd fmla="val 19231" name="adj"/>
            </a:avLst>
          </a:prstGeom>
          <a:solidFill>
            <a:srgbClr val="1A3A7A"/>
          </a:solidFill>
          <a:ln cap="flat" cmpd="sng" w="12700">
            <a:solidFill>
              <a:srgbClr val="1A3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3630168" y="649224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imes New Roman"/>
              <a:buNone/>
            </a:pPr>
            <a:r>
              <a:rPr b="1" lang="en-US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Instance-Based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411480" y="9784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11480" y="12344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566928" y="1271016"/>
            <a:ext cx="8028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new match, it finds the K most similar historical matches (using Euclidean distance on 40 features) and assigns the most common result among those K neighbors as the prediction.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11480" y="22311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used it: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566928" y="2523744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training phase — purely instance-based. Tuned number of neighbors, distance metric (euclidean/manhattan), and weight function (uniform/distance).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Parameters: n_neighbors = 13, weights = distance, metric = euclidean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11480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11480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~53%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11480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3218688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3218688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~0.51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218688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025896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6025896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~52%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025896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3 — Decision Tree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3589934" y="640080"/>
            <a:ext cx="1964131" cy="237744"/>
          </a:xfrm>
          <a:prstGeom prst="roundRect">
            <a:avLst>
              <a:gd fmla="val 19231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3589934" y="649224"/>
            <a:ext cx="19641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imes New Roman"/>
              <a:buNone/>
            </a:pPr>
            <a:r>
              <a:rPr b="1" lang="en-US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Rule-Based Tree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11480" y="9784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11480" y="12344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66928" y="1271016"/>
            <a:ext cx="8028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a series of explicit if/else rules from the training data. For example: if home_momentum &gt; 2.1 AND season_pts_diff &gt; 8, predict Home Win. Each branch splits based on a feature threshold that maximises information gain.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411480" y="22311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used it: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566928" y="2523744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interpretable — can visualise every rule. Pruned using max_depth and min_samples_leaf to prevent overfitting.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Parameters: max_depth = 10, min_samples_leaf = 10, criterion = entropy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11480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411480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~56%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411480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3218688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3218688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~0.54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3218688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6025896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025896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~55%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6025896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4 — Random Forest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3469234" y="640080"/>
            <a:ext cx="2205533" cy="237744"/>
          </a:xfrm>
          <a:prstGeom prst="roundRect">
            <a:avLst>
              <a:gd fmla="val 19231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3469234" y="649224"/>
            <a:ext cx="220553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imes New Roman"/>
              <a:buNone/>
            </a:pPr>
            <a:r>
              <a:rPr b="1" lang="en-US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Ensemble (Bagging)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11480" y="9784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11480" y="12344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566928" y="1271016"/>
            <a:ext cx="8028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300–500 decision trees, each trained on a random subset of the data and features (bagging). The final prediction is the majority vote across all trees. This reduces variance compared to a single tree.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411480" y="22311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used it: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566928" y="2523744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performer. Naturally handles non-linear relationships. Feature importance extracted to understand which features matter most.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Parameters: n_estimators = 400, max_depth = 12, max_features = sqrt, min_samples_leaf = 5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411480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411480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~62%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411480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3218688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3218688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~0.60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3218688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6025896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6025896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~61%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6025896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5 — XGBoost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3509467" y="640080"/>
            <a:ext cx="2125066" cy="237744"/>
          </a:xfrm>
          <a:prstGeom prst="roundRect">
            <a:avLst>
              <a:gd fmla="val 19231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3509467" y="649224"/>
            <a:ext cx="21250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imes New Roman"/>
              <a:buNone/>
            </a:pPr>
            <a:r>
              <a:rPr b="1" lang="en-US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Gradient Boosting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11480" y="9784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11480" y="12344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566928" y="1271016"/>
            <a:ext cx="8028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trees sequentially — each new tree specifically corrects the prediction errors of the previous one (boosting). Uses gradient descent to minimise a loss function. Regularisation parameters prevent overfitting.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11480" y="22311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used it: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566928" y="2523744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State-of-the-art for structured/tabular data. Heavily tuned with 30 iterations of RandomizedSearchCV across 9 parameters.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Parameters: n_estimators=500, max_depth=5, lr=0.05, subsample=0.8, colsample=0.8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411480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411480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~65%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411480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3218688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3218688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~0.63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3218688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6025896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6025896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~64%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6025896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6 — Stacking Ensemble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3268066" y="640080"/>
            <a:ext cx="2607869" cy="237744"/>
          </a:xfrm>
          <a:prstGeom prst="roundRect">
            <a:avLst>
              <a:gd fmla="val 19231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3268066" y="649224"/>
            <a:ext cx="26078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imes New Roman"/>
              <a:buNone/>
            </a:pPr>
            <a:r>
              <a:rPr b="1" lang="en-US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Stacking (Meta-Learner)</a:t>
            </a:r>
            <a:endParaRPr sz="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411480" y="97137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411480" y="1234440"/>
            <a:ext cx="8321040" cy="89611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566928" y="1271016"/>
            <a:ext cx="8028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meta-learning approach. Level-0 models (RF + XGBoost + Decision Tree) each make predictions, which become the inputs to a Level-1 meta-learner (Logistic Regression). The meta-learner learns when to trust each base model.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411480" y="22311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used it: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566928" y="2523744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Times New Roman"/>
              <a:buNone/>
            </a:pPr>
            <a:r>
              <a:rPr lang="en-US" sz="11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Achieves the highest accuracy by combining the strengths of all base models. passthrough=True also passes original features to the meta-learner.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i="1"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Parameters: base: RF + XGBoost + DT  |  meta: Logistic Regression (C=1.0)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411480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411480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~67%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11480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3218688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3218688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~0.65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3218688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025896" y="3566160"/>
            <a:ext cx="2670048" cy="1097280"/>
          </a:xfrm>
          <a:prstGeom prst="rect">
            <a:avLst/>
          </a:prstGeom>
          <a:solidFill>
            <a:srgbClr val="EEF3FB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6025896" y="3602736"/>
            <a:ext cx="2670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~66%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6025896" y="4169664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 Score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411480" y="932688"/>
            <a:ext cx="4160520" cy="146304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548640" y="102412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548640" y="1325880"/>
            <a:ext cx="3886200" cy="16459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548640" y="138988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Char char="•"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null/missing rows, fixed date formats, standardised column names.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Char char="•"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Filled missing shot/corner statistics with zero, sorted all records chronologically.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4663440" y="932688"/>
            <a:ext cx="4069080" cy="146304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4800600" y="10241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4800600" y="1325880"/>
            <a:ext cx="3794760" cy="16459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4800600" y="138988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Char char="•"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40 features: rolling 5 &amp; 10-game form, weighted momentum (exponential decay), home/away-specific form, shots-on-target ratio, conversion rate, season points, H2H win rate.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411480" y="2505456"/>
            <a:ext cx="4160520" cy="146304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548640" y="25968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&amp; Testing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48640" y="2898648"/>
            <a:ext cx="3886200" cy="16459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548640" y="2962656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Char char="•"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 training / 20% testing with stratified split to preserve class balance (H/D/A ratio).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Char char="•"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tuning: RandomizedSearchCV with 5-fold cross-validation.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4663440" y="2505456"/>
            <a:ext cx="4069080" cy="146304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4800600" y="25968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Techniques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4800600" y="2898648"/>
            <a:ext cx="3794760" cy="16459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4800600" y="296265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Char char="•"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Accuracy, Precision, Recall, Weighted F1-Score, Confusion Matrix, 5-fold CV Score.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1033272" y="1024128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1033272" y="1271016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1033272" y="1828800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1033272" y="2075688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1033272" y="2633472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1033272" y="3438144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033272" y="3685032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1033272" y="4242816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1033272" y="4489704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5" name="Google Shape;5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756" y="213126"/>
            <a:ext cx="6508487" cy="467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411480" y="8229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100"/>
              <a:buFont typeface="Times New Roman"/>
              <a:buNone/>
            </a:pPr>
            <a:r>
              <a:rPr i="1" lang="en-US" sz="11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6 Algorithms on 6 Evaluation Measures (6 × 6 = 36 instances)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48" name="Google Shape;548;p18"/>
          <p:cNvGraphicFramePr/>
          <p:nvPr/>
        </p:nvGraphicFramePr>
        <p:xfrm>
          <a:off x="41148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{EB2FD06A-73B8-4944-8ACC-A65FCABF7C79}</a:tableStyleId>
              </a:tblPr>
              <a:tblGrid>
                <a:gridCol w="2743200"/>
                <a:gridCol w="1005850"/>
                <a:gridCol w="1005850"/>
                <a:gridCol w="1005850"/>
                <a:gridCol w="1005850"/>
                <a:gridCol w="137160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Score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Score (5-fold)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K-Nearest Neighbors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D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Stacking Ensemble 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5D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18"/>
          <p:cNvSpPr/>
          <p:nvPr/>
        </p:nvSpPr>
        <p:spPr>
          <a:xfrm>
            <a:off x="411480" y="4498848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Times New Roman"/>
              <a:buNone/>
            </a:pPr>
            <a:r>
              <a:rPr i="1" lang="en-US" sz="9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★ Best performing model. Replace approximate values with actual results after running train_models.py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9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9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9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9"/>
          <p:cNvSpPr/>
          <p:nvPr/>
        </p:nvSpPr>
        <p:spPr>
          <a:xfrm>
            <a:off x="6217920" y="182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200"/>
              <a:buFont typeface="Times New Roman"/>
              <a:buNone/>
            </a:pPr>
            <a:r>
              <a:rPr i="1" lang="en-US" sz="12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Areas for Improvement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9"/>
          <p:cNvSpPr/>
          <p:nvPr/>
        </p:nvSpPr>
        <p:spPr>
          <a:xfrm>
            <a:off x="521208" y="1124712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1033272" y="1024128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Prediction Difficulty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1033272" y="1271016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Draws are inherently unpredictable — they occur ~25% of the time but all models struggle to identify them accurately, lowering overall F1 score.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411480" y="1764792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9"/>
          <p:cNvSpPr/>
          <p:nvPr/>
        </p:nvSpPr>
        <p:spPr>
          <a:xfrm>
            <a:off x="521208" y="1929384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1033272" y="1828800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Player-Level Data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1033272" y="2075688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does not include player-level data (injuries, suspensions, starting lineup) which significantly affects real match outcomes.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411480" y="2569464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"/>
          <p:cNvSpPr/>
          <p:nvPr/>
        </p:nvSpPr>
        <p:spPr>
          <a:xfrm>
            <a:off x="521208" y="2734056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9"/>
          <p:cNvSpPr/>
          <p:nvPr/>
        </p:nvSpPr>
        <p:spPr>
          <a:xfrm>
            <a:off x="1033272" y="2633472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Feature Engineering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1033272" y="2880360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loop runs row-by-row and is slow (~8–12 minutes) — not suitable for real-time streaming data pipelines.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411480" y="3374136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9"/>
          <p:cNvSpPr/>
          <p:nvPr/>
        </p:nvSpPr>
        <p:spPr>
          <a:xfrm>
            <a:off x="521208" y="3538728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9"/>
          <p:cNvSpPr/>
          <p:nvPr/>
        </p:nvSpPr>
        <p:spPr>
          <a:xfrm>
            <a:off x="1033272" y="3438144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Generalisation Risk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1033272" y="3685032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are trained on historical averages and may underperform when teams have unusual playing styles or mid-season manager changes.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411480" y="4178808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9"/>
          <p:cNvSpPr/>
          <p:nvPr/>
        </p:nvSpPr>
        <p:spPr>
          <a:xfrm>
            <a:off x="521208" y="4343400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9"/>
          <p:cNvSpPr/>
          <p:nvPr/>
        </p:nvSpPr>
        <p:spPr>
          <a:xfrm>
            <a:off x="1033272" y="4242816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Deployment Only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1033272" y="4489704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Flask API currently runs locally only — it requires deployment to a cloud server (e.g. AWS, Heroku) to be publicly accessible.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0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6217920" y="182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200"/>
              <a:buFont typeface="Times New Roman"/>
              <a:buNone/>
            </a:pPr>
            <a:r>
              <a:rPr i="1" lang="en-US" sz="12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Summary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0"/>
          <p:cNvSpPr/>
          <p:nvPr/>
        </p:nvSpPr>
        <p:spPr>
          <a:xfrm>
            <a:off x="521208" y="1124712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0"/>
          <p:cNvSpPr/>
          <p:nvPr/>
        </p:nvSpPr>
        <p:spPr>
          <a:xfrm>
            <a:off x="1033272" y="1024128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ML Pipeline Built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1033272" y="1271016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built a complete ML pipeline for Premier League match prediction using 9,512 historical records.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411480" y="1764792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0"/>
          <p:cNvSpPr/>
          <p:nvPr/>
        </p:nvSpPr>
        <p:spPr>
          <a:xfrm>
            <a:off x="521208" y="1929384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0"/>
          <p:cNvSpPr/>
          <p:nvPr/>
        </p:nvSpPr>
        <p:spPr>
          <a:xfrm>
            <a:off x="1033272" y="1828800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Model: Stacking Ensemble (~67%)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1033272" y="2075688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 algorithms were implemented, tuned, and evaluated. The Stacking Ensemble achieved the best accuracy of approximately 67%.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411480" y="2569464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521208" y="2734056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0"/>
          <p:cNvSpPr/>
          <p:nvPr/>
        </p:nvSpPr>
        <p:spPr>
          <a:xfrm>
            <a:off x="1033272" y="2633472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Supporting Models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1033272" y="2880360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and Random Forest also performed strongly at ~65% and ~62%, consistently outperforming baseline Logistic Regression (~55%).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411480" y="3374136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0"/>
          <p:cNvSpPr/>
          <p:nvPr/>
        </p:nvSpPr>
        <p:spPr>
          <a:xfrm>
            <a:off x="521208" y="3538728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0"/>
          <p:cNvSpPr/>
          <p:nvPr/>
        </p:nvSpPr>
        <p:spPr>
          <a:xfrm>
            <a:off x="1033272" y="3438144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Full-Stack System Delivered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1033272" y="3685032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Flask REST API was built and connected to an HTML/CSS/JavaScript frontend for real-time match predictions.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411480" y="4178808"/>
            <a:ext cx="8321040" cy="731520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0"/>
          <p:cNvSpPr/>
          <p:nvPr/>
        </p:nvSpPr>
        <p:spPr>
          <a:xfrm>
            <a:off x="521208" y="4343400"/>
            <a:ext cx="402336" cy="402336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0"/>
          <p:cNvSpPr/>
          <p:nvPr/>
        </p:nvSpPr>
        <p:spPr>
          <a:xfrm>
            <a:off x="1033272" y="4242816"/>
            <a:ext cx="7607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Extracts Meaningful Patterns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1033272" y="4489704"/>
            <a:ext cx="7607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that ML can extract meaningful patterns from football stats to make reliable predictions.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0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1"/>
          <p:cNvSpPr/>
          <p:nvPr/>
        </p:nvSpPr>
        <p:spPr>
          <a:xfrm>
            <a:off x="9102852" y="0"/>
            <a:ext cx="41148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411480" y="164592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D1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411480" y="694944"/>
            <a:ext cx="8321040" cy="20117"/>
          </a:xfrm>
          <a:prstGeom prst="rect">
            <a:avLst/>
          </a:prstGeom>
          <a:solidFill>
            <a:srgbClr val="C5D3E8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411480" y="914400"/>
            <a:ext cx="8321040" cy="4005072"/>
          </a:xfrm>
          <a:prstGeom prst="rect">
            <a:avLst/>
          </a:prstGeom>
          <a:solidFill>
            <a:srgbClr val="F7F9FD"/>
          </a:solidFill>
          <a:ln cap="flat" cmpd="sng" w="12700">
            <a:solidFill>
              <a:srgbClr val="C5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1"/>
          <p:cNvSpPr/>
          <p:nvPr/>
        </p:nvSpPr>
        <p:spPr>
          <a:xfrm>
            <a:off x="566928" y="102412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21"/>
          <p:cNvSpPr/>
          <p:nvPr/>
        </p:nvSpPr>
        <p:spPr>
          <a:xfrm>
            <a:off x="1042416" y="1024128"/>
            <a:ext cx="7406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Football Data UK, "English Premier League Historical Match Statistics," [Online]. Available: </a:t>
            </a:r>
            <a:r>
              <a:rPr lang="en-US" sz="11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https://www.football-data.co.uk/englandm.php. [Accessed: 2024].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21"/>
          <p:cNvSpPr/>
          <p:nvPr/>
        </p:nvSpPr>
        <p:spPr>
          <a:xfrm>
            <a:off x="566928" y="166420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1042416" y="1664208"/>
            <a:ext cx="7406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Chen and C. Guestrin, "XGBoost: A Scalable Tree Boosting System," in Proc. 22nd ACM SIGKDD Intl. Conf. on Knowledge Discovery and Data Mining, 2016, pp. 785-794.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566928" y="230428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1042416" y="2304288"/>
            <a:ext cx="7406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Breiman, "Random Forests," Machine Learning, vol. 45, no. 1, pp. 5-32, Oct. 2001.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566928" y="294436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1042416" y="2944368"/>
            <a:ext cx="7406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F. Pedregosa et al., "Scikit-learn: Machine Learning in Python," Journal of Machine Learning Research, vol. 12, pp. 2825-2830, 2011.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566928" y="358444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1042416" y="3584448"/>
            <a:ext cx="7406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Berrar, P. Lopes, and W. Dubitzky, "Incorporating Domain Knowledge in Machine Learning for Soccer Outcome Prediction," Machine Learning, vol. 108, pp. 97-126, 2019.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566928" y="422452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50"/>
              <a:buFont typeface="Times New Roman"/>
              <a:buNone/>
            </a:pPr>
            <a:r>
              <a:rPr b="1" lang="en-US" sz="115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1042416" y="4224528"/>
            <a:ext cx="7406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Kaggle, "English Premier League EPL Match Data 2000-2025," [Online]. Available: </a:t>
            </a:r>
            <a:r>
              <a:rPr lang="en-US" sz="1100">
                <a:solidFill>
                  <a:srgbClr val="1A56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https://www.kaggle.com/datasets/marcohuiii/english-premier-league-epl-match-data-2000-2025. [Accessed: 2024].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000"/>
              <a:buFont typeface="Times New Roman"/>
              <a:buNone/>
            </a:pPr>
            <a:r>
              <a:rPr lang="en-US" sz="1000">
                <a:solidFill>
                  <a:srgbClr val="5A6A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2026-05-13T17:11:42Z</dcterms:created>
  <dc:creator>PptxGenJS</dc:creator>
</cp:coreProperties>
</file>